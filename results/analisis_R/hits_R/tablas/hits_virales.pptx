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6.xml"/>
<Relationship Id="rId2" Type="http://schemas.openxmlformats.org/officeDocument/2006/relationships/image" Target="../media/e568dfb644952871a530bd4b660f80caa931acf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Viral hits among assembled contigs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365760" y="1463040"/>
          <a:ext cx="3657600" cy="2743200"/>
        </p:xfrm>
        <a:graphic>
          <a:graphicData uri="http://schemas.openxmlformats.org/drawingml/2006/table">
            <a:tbl>
              <a:tblPr/>
              <a:tblGrid>
                <a:gridCol w="2236243"/>
                <a:gridCol w="686161"/>
                <a:gridCol w="819828"/>
                <a:gridCol w="1588339"/>
              </a:tblGrid>
              <a:tr h="37465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Group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Contigs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% of 6,004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Called viral by geNomad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RNA virus families (candidates)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432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7.2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142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DNA virus families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DNA virus families (no realm assigned)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13.8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Bacteriophages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142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Retroviruses / retroelements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Viral hit without family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136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Weak (blastn &lt; 30% cover, no protein)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1,018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17.0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No viral hit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2,897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48.3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502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 gridSpan="4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Best hit per contig vs. custom viral DB. DNA-virus and phage hits in an RNA-seq library are host or bacterial genes with viral homologues.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Best hit per contig vs. custom viral DB. DNA-virus and phage hits in an RNA-seq library are host or bacterial genes with viral homologues.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Best hit per contig vs. custom viral DB. DNA-virus and phage hits in an RNA-seq library are host or bacterial genes with viral homologues.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Best hit per contig vs. custom viral DB. DNA-virus and phage hits in an RNA-seq library are host or bacterial genes with viral homologues.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RNA viruses confirmed by geNomad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365760" y="1463040"/>
          <a:ext cx="3657600" cy="2743200"/>
        </p:xfrm>
        <a:graphic>
          <a:graphicData uri="http://schemas.openxmlformats.org/drawingml/2006/table">
            <a:tbl>
              <a:tblPr/>
              <a:tblGrid>
                <a:gridCol w="2128656"/>
                <a:gridCol w="858259"/>
                <a:gridCol w="587243"/>
                <a:gridCol w="547456"/>
                <a:gridCol w="1162761"/>
                <a:gridCol w="919973"/>
                <a:gridCol w="824078"/>
                <a:gridCol w="841193"/>
              </a:tblGrid>
              <a:tr h="26797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Virus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Family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Samples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Contigs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geNomad-supported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Max length (bp)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Max nt id. (%)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Max aa id. (%)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Verdadero virus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Partitiviridae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19/22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1,901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99.9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Chaq-like virus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Partitiviridae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19/22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2,003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99.7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Aedes anphevirus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Xinmoviridae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14/22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15,488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99.9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Bafoussam mosquito rhabdovirus-like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Rhabdoviridae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4,012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71.8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80.1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Formosus virus-like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Rhabdoviridae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4,110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74.2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90.6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Aedes aegypti totivirus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Inseviridae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4,797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98.6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99.3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Mos8Chu0 chuvirus-like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Chuviridae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1,694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77.0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83.5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Liao ning virus-like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Sedoreoviridae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1,516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81.2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84.5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Lispiviridae sp.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Lispiviridae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1,612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-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47.3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Aedes flavivirus-like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Flaviviridae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2,039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-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38.5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Cell fusing agent virus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Flaviviridae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10,680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99.0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99.4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Atrato virus-like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Orthototiviridae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1,365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-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29.7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Culex mosquito virus 1-like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Nodaviridae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2,161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97.5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45.6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Culex-associated Tombus-like virus relative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Tombusviridae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2,456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67.8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57.1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Phasivirus phasiense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Phenuiviridae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2,335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97.9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100.0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San Gabriel mononegavirus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Rhabdoviridae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2,713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97.1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99.4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Aedes anphevirus-like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Xinmoviridae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1,083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66.8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68.3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Rhabdoviridae sp.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Rhabdoviridae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1,418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73.5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8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35.2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RNA virus hits to verify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365760" y="1463040"/>
          <a:ext cx="3657600" cy="2743200"/>
        </p:xfrm>
        <a:graphic>
          <a:graphicData uri="http://schemas.openxmlformats.org/drawingml/2006/table">
            <a:tbl>
              <a:tblPr/>
              <a:tblGrid>
                <a:gridCol w="1389166"/>
                <a:gridCol w="736927"/>
                <a:gridCol w="482765"/>
                <a:gridCol w="452925"/>
                <a:gridCol w="914404"/>
                <a:gridCol w="732313"/>
                <a:gridCol w="660392"/>
                <a:gridCol w="673228"/>
                <a:gridCol w="2164188"/>
              </a:tblGrid>
              <a:tr h="2374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Virus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Family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Samples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Contigs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geNomad-supported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Max length (bp)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Max nt id. (%)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Max aa id. (%)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Note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84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Hattula partiti-like virus relative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Partitiviridae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21/22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130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7,546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99.2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97.1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Ubiquitous, short nt hit: possible EVE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84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Iflavirus sp.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Iflaviridae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19/22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113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2,462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99.7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-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Ubiquitous, no geNomad support: rRNA pattern (cf. Hanko)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84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Kamiti River virus-like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Flaviviridae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2,766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71.7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50.7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Short nt hit; possible flavivirus EVE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84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Bole tick virus 4-like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Pestiviridae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1,336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80.3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-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6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Helvetica"/>
                        <a:cs typeface="Helvetica"/>
                        <a:ea typeface="Helvetica"/>
                        <a:sym typeface="Helvetica"/>
                      </a:endParaR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84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Oropouche virus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Peribunyaviridae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1,429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98.8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-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Short nt hit; protein closest to Culex mosquito virus 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84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Murri virus-like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Orthototiviridae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1,907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-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35.4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6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Helvetica"/>
                        <a:cs typeface="Helvetica"/>
                        <a:ea typeface="Helvetica"/>
                        <a:sym typeface="Helvetica"/>
                      </a:endParaR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84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Hameenlinna phasivirus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Phenuiviridae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1,037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91.1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68.8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No protein hit in any database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84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Hulunbuir Totiv tick virus 2-like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Orthototiviridae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1,193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-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31.8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6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Helvetica"/>
                        <a:cs typeface="Helvetica"/>
                        <a:ea typeface="Helvetica"/>
                        <a:sym typeface="Helvetica"/>
                      </a:endParaR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84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Leksozero Aedes Stangrhavirus-like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Rhabdoviridae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1,217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-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34.2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6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Helvetica"/>
                        <a:cs typeface="Helvetica"/>
                        <a:ea typeface="Helvetica"/>
                        <a:sym typeface="Helvetica"/>
                      </a:endParaR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84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Mato partitivirus-like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Partitiviridae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1,059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76.0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49.8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6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Helvetica"/>
                        <a:cs typeface="Helvetica"/>
                        <a:ea typeface="Helvetica"/>
                        <a:sym typeface="Helvetica"/>
                      </a:endParaR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84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Onega tick phlebovirus-like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Phenuiviridae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1,025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78.6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-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6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Helvetica"/>
                        <a:cs typeface="Helvetica"/>
                        <a:ea typeface="Helvetica"/>
                        <a:sym typeface="Helvetica"/>
                      </a:endParaR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796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Plateau tick ixovirus-like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Phenuiviridae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1,004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82.3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-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6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Helvetica"/>
                        <a:cs typeface="Helvetica"/>
                        <a:ea typeface="Helvetica"/>
                        <a:sym typeface="Helvetica"/>
                      </a:endParaR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Hits attributed to host (EVE / rRNA)</a:t>
            </a:r>
          </a:p>
        </p:txBody>
      </p:sp>
      <p:graphicFrame>
        <p:nvGraphicFramePr>
          <p:cNvPr id="3" name=""/>
          <p:cNvGraphicFramePr>
            <a:graphicFrameLocks noGrp="true"/>
          </p:cNvGraphicFramePr>
          <p:nvPr/>
        </p:nvGraphicFramePr>
        <p:xfrm rot="0">
          <a:off x="365760" y="1463040"/>
          <a:ext cx="3657600" cy="2743200"/>
        </p:xfrm>
        <a:graphic>
          <a:graphicData uri="http://schemas.openxmlformats.org/drawingml/2006/table">
            <a:tbl>
              <a:tblPr/>
              <a:tblGrid>
                <a:gridCol w="1605041"/>
                <a:gridCol w="588582"/>
                <a:gridCol w="482765"/>
                <a:gridCol w="452925"/>
                <a:gridCol w="914404"/>
                <a:gridCol w="732313"/>
                <a:gridCol w="660392"/>
                <a:gridCol w="673228"/>
                <a:gridCol w="1418671"/>
              </a:tblGrid>
              <a:tr h="2374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Virus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Family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Samples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Contigs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geNomad-supported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Max length (bp)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Max nt id. (%)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Max aa id. (%)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Note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84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Hanko iflavirus 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Iflaviridae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11/22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1,392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96.7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-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Host-derived: genome screen / rRNA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1844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Tick-borne encephalitis virus-like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Flaviviridae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1,065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76.4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35.2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EVE in AaegL5 (genome screen)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796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1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Panayarvi Aedes partiti-like virus 2 relative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Partitiviridae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2/22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1,081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78.3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76.7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6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EVE in AaegL5 (genome screen)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RNA virus hits per pool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65760" y="1463040"/>
            <a:ext cx="5201553" cy="512064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jock2</cp:lastModifiedBy>
  <cp:revision>3</cp:revision>
  <dcterms:created xsi:type="dcterms:W3CDTF">2017-02-13T16:18:36Z</dcterms:created>
  <dcterms:modified xsi:type="dcterms:W3CDTF">2026-10-24T20:59:39Z</dcterms:modified>
  <cp:category/>
</cp:coreProperties>
</file>